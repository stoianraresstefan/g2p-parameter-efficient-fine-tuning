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54864"/>
          </a:xfrm>
          <a:prstGeom prst="rect">
            <a:avLst/>
          </a:prstGeom>
          <a:solidFill>
            <a:srgbClr val="B0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F3A6E"/>
                </a:solidFill>
              </a:rPr>
              <a:t>LoRA for Multilingual Grapheme-to-Phoneme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i="1">
                <a:solidFill>
                  <a:srgbClr val="222222"/>
                </a:solidFill>
              </a:rPr>
              <a:t>Parameter-Efficient Adaptation of ByT5-G2P on Romanian and Modern Greek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2200" b="1">
                <a:solidFill>
                  <a:srgbClr val="1F3A6E"/>
                </a:solidFill>
              </a:rPr>
              <a:t>Dan-Gabriel Tudor   ·   Ştefan-Rareş Stoian</a:t>
            </a:r>
          </a:p>
          <a:p>
            <a:pPr algn="ctr"/>
            <a:r>
              <a:rPr sz="1600" b="0">
                <a:solidFill>
                  <a:srgbClr val="222222"/>
                </a:solidFill>
              </a:rPr>
              <a:t>Faculty of Mathematics and Informatics, University of Bucharest</a:t>
            </a:r>
          </a:p>
          <a:p>
            <a:pPr algn="ctr"/>
            <a:r>
              <a:rPr sz="1400" b="0">
                <a:solidFill>
                  <a:srgbClr val="222222"/>
                </a:solidFill>
              </a:rPr>
              <a:t>LLM for NLP — 2026</a:t>
            </a:r>
          </a:p>
          <a:p>
            <a:pPr algn="ctr"/>
            <a:r>
              <a:rPr sz="1200" b="0">
                <a:solidFill>
                  <a:srgbClr val="222222"/>
                </a:solidFill>
              </a:rPr>
              <a:t>https://github.com/stoianraresstefan/G2P-Parameter-Efficient-Fine-Tuning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6E"/>
                </a:solidFill>
              </a:rPr>
              <a:t>The grapheme-to-phoneme (G2P) task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38100"/>
          </a:xfrm>
          <a:prstGeom prst="rect">
            <a:avLst/>
          </a:prstGeom>
          <a:solidFill>
            <a:srgbClr val="B0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B0302A"/>
                </a:solidFill>
              </a:rPr>
              <a:t>•  </a:t>
            </a:r>
            <a:r>
              <a:rPr sz="2000" b="1">
                <a:solidFill>
                  <a:srgbClr val="B0302A"/>
                </a:solidFill>
              </a:rPr>
              <a:t>G2P</a:t>
            </a:r>
            <a:r>
              <a:rPr sz="2000" b="0">
                <a:solidFill>
                  <a:srgbClr val="222222"/>
                </a:solidFill>
              </a:rPr>
              <a:t> maps spelling to pronunciation — a sequence of phonemes (IPA).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B0302A"/>
                </a:solidFill>
              </a:rPr>
              <a:t>•  </a:t>
            </a:r>
            <a:r>
              <a:rPr sz="2000" b="0">
                <a:solidFill>
                  <a:srgbClr val="222222"/>
                </a:solidFill>
              </a:rPr>
              <a:t>It is the front-end of </a:t>
            </a:r>
            <a:r>
              <a:rPr sz="2000" b="1">
                <a:solidFill>
                  <a:srgbClr val="B0302A"/>
                </a:solidFill>
              </a:rPr>
              <a:t>text-to-speech</a:t>
            </a:r>
            <a:r>
              <a:rPr sz="2000" b="0">
                <a:solidFill>
                  <a:srgbClr val="222222"/>
                </a:solidFill>
              </a:rPr>
              <a:t> and supplies the lexicons behind </a:t>
            </a:r>
            <a:r>
              <a:rPr sz="2000" b="1">
                <a:solidFill>
                  <a:srgbClr val="B0302A"/>
                </a:solidFill>
              </a:rPr>
              <a:t>speech recognition</a:t>
            </a:r>
            <a:r>
              <a:rPr sz="2000" b="0">
                <a:solidFill>
                  <a:srgbClr val="222222"/>
                </a:solidFill>
              </a:rPr>
              <a:t>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B0302A"/>
                </a:solidFill>
              </a:rPr>
              <a:t>•  </a:t>
            </a:r>
            <a:r>
              <a:rPr sz="2000" b="0">
                <a:solidFill>
                  <a:srgbClr val="222222"/>
                </a:solidFill>
              </a:rPr>
              <a:t>Example: Romanian *porneşte* (“[it] starts”) →  p o r n e ʃ t e,  where ⟨ş⟩ → /ʃ/.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B0302A"/>
                </a:solidFill>
              </a:rPr>
              <a:t>•  </a:t>
            </a:r>
            <a:r>
              <a:rPr sz="2000" b="0">
                <a:solidFill>
                  <a:srgbClr val="222222"/>
                </a:solidFill>
              </a:rPr>
              <a:t>Spelling-to-sound mappings are </a:t>
            </a:r>
            <a:r>
              <a:rPr sz="2000" b="1">
                <a:solidFill>
                  <a:srgbClr val="B0302A"/>
                </a:solidFill>
              </a:rPr>
              <a:t>irregular</a:t>
            </a:r>
            <a:r>
              <a:rPr sz="2000" b="0">
                <a:solidFill>
                  <a:srgbClr val="222222"/>
                </a:solidFill>
              </a:rPr>
              <a:t> even in shallow orthographies — so G2P is nontrivial.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6E"/>
                </a:solidFill>
              </a:rPr>
              <a:t>Why multilingual G2P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38100"/>
          </a:xfrm>
          <a:prstGeom prst="rect">
            <a:avLst/>
          </a:prstGeom>
          <a:solidFill>
            <a:srgbClr val="B0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B0302A"/>
                </a:solidFill>
              </a:rPr>
              <a:t>•  </a:t>
            </a:r>
            <a:r>
              <a:rPr sz="2000" b="0">
                <a:solidFill>
                  <a:srgbClr val="222222"/>
                </a:solidFill>
              </a:rPr>
              <a:t>High-quality pronunciation lexicons need linguistic expertise and are </a:t>
            </a:r>
            <a:r>
              <a:rPr sz="2000" b="1">
                <a:solidFill>
                  <a:srgbClr val="B0302A"/>
                </a:solidFill>
              </a:rPr>
              <a:t>scarce</a:t>
            </a:r>
            <a:r>
              <a:rPr sz="2000" b="0">
                <a:solidFill>
                  <a:srgbClr val="222222"/>
                </a:solidFill>
              </a:rPr>
              <a:t> for most languages.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B0302A"/>
                </a:solidFill>
              </a:rPr>
              <a:t>•  </a:t>
            </a:r>
            <a:r>
              <a:rPr sz="2000" b="0">
                <a:solidFill>
                  <a:srgbClr val="222222"/>
                </a:solidFill>
              </a:rPr>
              <a:t>Pretrained multilingual models (CharsiuG2P / ByT5-G2P) transfer across </a:t>
            </a:r>
            <a:r>
              <a:rPr sz="2000" b="1">
                <a:solidFill>
                  <a:srgbClr val="B0302A"/>
                </a:solidFill>
              </a:rPr>
              <a:t>~100 languages</a:t>
            </a:r>
            <a:r>
              <a:rPr sz="2000" b="0">
                <a:solidFill>
                  <a:srgbClr val="222222"/>
                </a:solidFill>
              </a:rPr>
              <a:t> from a </a:t>
            </a:r>
            <a:r>
              <a:rPr sz="2000" b="1">
                <a:solidFill>
                  <a:srgbClr val="B0302A"/>
                </a:solidFill>
              </a:rPr>
              <a:t>single</a:t>
            </a:r>
            <a:r>
              <a:rPr sz="2000" b="0">
                <a:solidFill>
                  <a:srgbClr val="222222"/>
                </a:solidFill>
              </a:rPr>
              <a:t> network…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B0302A"/>
                </a:solidFill>
              </a:rPr>
              <a:t>•  </a:t>
            </a:r>
            <a:r>
              <a:rPr sz="2000" b="0">
                <a:solidFill>
                  <a:srgbClr val="222222"/>
                </a:solidFill>
              </a:rPr>
              <a:t>… and need only an ISO-639-3 language tag to transcribe a word.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B0302A"/>
                </a:solidFill>
              </a:rPr>
              <a:t>•  </a:t>
            </a:r>
            <a:r>
              <a:rPr sz="2000" b="0">
                <a:solidFill>
                  <a:srgbClr val="222222"/>
                </a:solidFill>
              </a:rPr>
              <a:t>Strong off the shelf — but still benefit from </a:t>
            </a:r>
            <a:r>
              <a:rPr sz="2000" b="1">
                <a:solidFill>
                  <a:srgbClr val="B0302A"/>
                </a:solidFill>
              </a:rPr>
              <a:t>per-language adaptation</a:t>
            </a:r>
            <a:r>
              <a:rPr sz="2000" b="0">
                <a:solidFill>
                  <a:srgbClr val="222222"/>
                </a:solidFill>
              </a:rPr>
              <a:t> when in-language data exists.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6E"/>
                </a:solidFill>
              </a:rPr>
              <a:t>The cost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38100"/>
          </a:xfrm>
          <a:prstGeom prst="rect">
            <a:avLst/>
          </a:prstGeom>
          <a:solidFill>
            <a:srgbClr val="B0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B0302A"/>
                </a:solidFill>
              </a:rPr>
              <a:t>•  </a:t>
            </a:r>
            <a:r>
              <a:rPr sz="2000" b="0">
                <a:solidFill>
                  <a:srgbClr val="222222"/>
                </a:solidFill>
              </a:rPr>
              <a:t>Adapting by </a:t>
            </a:r>
            <a:r>
              <a:rPr sz="2000" b="1">
                <a:solidFill>
                  <a:srgbClr val="B0302A"/>
                </a:solidFill>
              </a:rPr>
              <a:t>full fine-tuning</a:t>
            </a:r>
            <a:r>
              <a:rPr sz="2000" b="0">
                <a:solidFill>
                  <a:srgbClr val="222222"/>
                </a:solidFill>
              </a:rPr>
              <a:t> stores a full copy of ~300M weights </a:t>
            </a:r>
            <a:r>
              <a:rPr sz="2000" b="1">
                <a:solidFill>
                  <a:srgbClr val="B0302A"/>
                </a:solidFill>
              </a:rPr>
              <a:t>per language</a:t>
            </a:r>
            <a:r>
              <a:rPr sz="2000" b="0">
                <a:solidFill>
                  <a:srgbClr val="222222"/>
                </a:solidFill>
              </a:rPr>
              <a:t>:  K languages ⇒ K × 300M.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B0302A"/>
                </a:solidFill>
              </a:rPr>
              <a:t>•  </a:t>
            </a:r>
            <a:r>
              <a:rPr sz="2000" b="0">
                <a:solidFill>
                  <a:srgbClr val="222222"/>
                </a:solidFill>
              </a:rPr>
              <a:t>It can also </a:t>
            </a:r>
            <a:r>
              <a:rPr sz="2000" b="1">
                <a:solidFill>
                  <a:srgbClr val="B0302A"/>
                </a:solidFill>
              </a:rPr>
              <a:t>overwrite</a:t>
            </a:r>
            <a:r>
              <a:rPr sz="2000" b="0">
                <a:solidFill>
                  <a:srgbClr val="222222"/>
                </a:solidFill>
              </a:rPr>
              <a:t> previously learned languages (catastrophic forgetting).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B0302A"/>
                </a:solidFill>
              </a:rPr>
              <a:t>•  </a:t>
            </a:r>
            <a:r>
              <a:rPr sz="2000" b="1">
                <a:solidFill>
                  <a:srgbClr val="B0302A"/>
                </a:solidFill>
              </a:rPr>
              <a:t>Parameter-efficient fine-tuning (PEFT)</a:t>
            </a:r>
            <a:r>
              <a:rPr sz="2000" b="0">
                <a:solidFill>
                  <a:srgbClr val="222222"/>
                </a:solidFill>
              </a:rPr>
              <a:t> — LoRA, adapters — is standard for LLMs and ASR…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B0302A"/>
                </a:solidFill>
              </a:rPr>
              <a:t>•  </a:t>
            </a:r>
            <a:r>
              <a:rPr sz="2000" b="0">
                <a:solidFill>
                  <a:srgbClr val="222222"/>
                </a:solidFill>
              </a:rPr>
              <a:t>… but has </a:t>
            </a:r>
            <a:r>
              <a:rPr sz="2000" b="1">
                <a:solidFill>
                  <a:srgbClr val="B0302A"/>
                </a:solidFill>
              </a:rPr>
              <a:t>not</a:t>
            </a:r>
            <a:r>
              <a:rPr sz="2000" b="0">
                <a:solidFill>
                  <a:srgbClr val="222222"/>
                </a:solidFill>
              </a:rPr>
              <a:t> been adopted for G2P.   </a:t>
            </a:r>
            <a:r>
              <a:rPr sz="2000" b="1">
                <a:solidFill>
                  <a:srgbClr val="B0302A"/>
                </a:solidFill>
              </a:rPr>
              <a:t>This is the gap we study.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6E"/>
                </a:solidFill>
              </a:rPr>
              <a:t>Research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38100"/>
          </a:xfrm>
          <a:prstGeom prst="rect">
            <a:avLst/>
          </a:prstGeom>
          <a:solidFill>
            <a:srgbClr val="B0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9966960" cy="2011680"/>
          </a:xfrm>
          <a:prstGeom prst="rect">
            <a:avLst/>
          </a:prstGeom>
          <a:solidFill>
            <a:srgbClr val="ECEFF5"/>
          </a:solidFill>
          <a:ln w="19050">
            <a:solidFill>
              <a:srgbClr val="1F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/>
            <a:r>
              <a:rPr sz="2400" b="0">
                <a:solidFill>
                  <a:srgbClr val="222222"/>
                </a:solidFill>
              </a:rPr>
              <a:t>Can </a:t>
            </a:r>
            <a:r>
              <a:rPr sz="2400" b="1">
                <a:solidFill>
                  <a:srgbClr val="B0302A"/>
                </a:solidFill>
              </a:rPr>
              <a:t>LoRA</a:t>
            </a:r>
            <a:r>
              <a:rPr sz="2400" b="0">
                <a:solidFill>
                  <a:srgbClr val="222222"/>
                </a:solidFill>
              </a:rPr>
              <a:t> match </a:t>
            </a:r>
            <a:r>
              <a:rPr sz="2400" b="1">
                <a:solidFill>
                  <a:srgbClr val="B0302A"/>
                </a:solidFill>
              </a:rPr>
              <a:t>full fine-tuning</a:t>
            </a:r>
            <a:r>
              <a:rPr sz="2400" b="0">
                <a:solidFill>
                  <a:srgbClr val="222222"/>
                </a:solidFill>
              </a:rPr>
              <a:t> of ByT5-G2P on low-resource languages while training </a:t>
            </a:r>
            <a:r>
              <a:rPr sz="2400" b="1">
                <a:solidFill>
                  <a:srgbClr val="B0302A"/>
                </a:solidFill>
              </a:rPr>
              <a:t>under 1%</a:t>
            </a:r>
            <a:r>
              <a:rPr sz="2400" b="0">
                <a:solidFill>
                  <a:srgbClr val="222222"/>
                </a:solidFill>
              </a:rPr>
              <a:t> of the parameters — and how do they compare on </a:t>
            </a:r>
            <a:r>
              <a:rPr sz="2400" b="1">
                <a:solidFill>
                  <a:srgbClr val="B0302A"/>
                </a:solidFill>
              </a:rPr>
              <a:t>catastrophic forgetting</a:t>
            </a:r>
            <a:r>
              <a:rPr sz="2400" b="0">
                <a:solidFill>
                  <a:srgbClr val="222222"/>
                </a:solidFill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B0302A"/>
                </a:solidFill>
              </a:rPr>
              <a:t>•  </a:t>
            </a:r>
            <a:r>
              <a:rPr sz="1800" b="0">
                <a:solidFill>
                  <a:srgbClr val="222222"/>
                </a:solidFill>
              </a:rPr>
              <a:t>First systematic study of LoRA for multilingual G2P.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B0302A"/>
                </a:solidFill>
              </a:rPr>
              <a:t>•  </a:t>
            </a:r>
            <a:r>
              <a:rPr sz="1800" b="0">
                <a:solidFill>
                  <a:srgbClr val="222222"/>
                </a:solidFill>
              </a:rPr>
              <a:t>Evaluated on Romanian and Modern Greek (SIGMORPHON 2021, low-resource).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6E"/>
                </a:solidFill>
              </a:rPr>
              <a:t>Method: one model, four adaptation strategies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38100"/>
          </a:xfrm>
          <a:prstGeom prst="rect">
            <a:avLst/>
          </a:prstGeom>
          <a:solidFill>
            <a:srgbClr val="B0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B0302A"/>
                </a:solidFill>
              </a:rPr>
              <a:t>•  </a:t>
            </a:r>
            <a:r>
              <a:rPr sz="1900" b="0">
                <a:solidFill>
                  <a:srgbClr val="222222"/>
                </a:solidFill>
              </a:rPr>
              <a:t>Base model: </a:t>
            </a:r>
            <a:r>
              <a:rPr sz="1900" b="1">
                <a:solidFill>
                  <a:srgbClr val="B0302A"/>
                </a:solidFill>
              </a:rPr>
              <a:t>CharsiuG2P ByT5-small</a:t>
            </a:r>
            <a:r>
              <a:rPr sz="1900" b="0">
                <a:solidFill>
                  <a:srgbClr val="222222"/>
                </a:solidFill>
              </a:rPr>
              <a:t> (~300M params, byte-level, no language-specific vocabulary).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</a:rPr>
              <a:t>      –  </a:t>
            </a:r>
            <a:r>
              <a:rPr sz="1700" b="1">
                <a:solidFill>
                  <a:srgbClr val="B0302A"/>
                </a:solidFill>
              </a:rPr>
              <a:t>Zero-shot</a:t>
            </a:r>
            <a:r>
              <a:rPr sz="1700" b="0">
                <a:solidFill>
                  <a:srgbClr val="222222"/>
                </a:solidFill>
              </a:rPr>
              <a:t> — pretrained model, no training (0%).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</a:rPr>
              <a:t>      –  </a:t>
            </a:r>
            <a:r>
              <a:rPr sz="1700" b="1">
                <a:solidFill>
                  <a:srgbClr val="B0302A"/>
                </a:solidFill>
              </a:rPr>
              <a:t>Frozen head</a:t>
            </a:r>
            <a:r>
              <a:rPr sz="1700" b="0">
                <a:solidFill>
                  <a:srgbClr val="222222"/>
                </a:solidFill>
              </a:rPr>
              <a:t> — train only the LM head (0.19%).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</a:rPr>
              <a:t>      –  </a:t>
            </a:r>
            <a:r>
              <a:rPr sz="1700" b="1">
                <a:solidFill>
                  <a:srgbClr val="B0302A"/>
                </a:solidFill>
              </a:rPr>
              <a:t>LoRA</a:t>
            </a:r>
            <a:r>
              <a:rPr sz="1700" b="0">
                <a:solidFill>
                  <a:srgbClr val="222222"/>
                </a:solidFill>
              </a:rPr>
              <a:t> — low-rank updates on attention q/k/v/o, r ∈ {8,16}, α = 2r  (0.39–0.78%):  W + (α/r)·BA.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</a:rPr>
              <a:t>      –  </a:t>
            </a:r>
            <a:r>
              <a:rPr sz="1700" b="1">
                <a:solidFill>
                  <a:srgbClr val="B0302A"/>
                </a:solidFill>
              </a:rPr>
              <a:t>Full fine-tuning</a:t>
            </a:r>
            <a:r>
              <a:rPr sz="1700" b="0">
                <a:solidFill>
                  <a:srgbClr val="222222"/>
                </a:solidFill>
              </a:rPr>
              <a:t> — all parameters (100%).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B0302A"/>
                </a:solidFill>
              </a:rPr>
              <a:t>•  </a:t>
            </a:r>
            <a:r>
              <a:rPr sz="1900" b="0">
                <a:solidFill>
                  <a:srgbClr val="222222"/>
                </a:solidFill>
              </a:rPr>
              <a:t>Greedy decoding; input prompt  &lt;ron&gt;:  /  &lt;gre&gt;: 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6E"/>
                </a:solidFill>
              </a:rPr>
              <a:t>Data and experimental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38100"/>
          </a:xfrm>
          <a:prstGeom prst="rect">
            <a:avLst/>
          </a:prstGeom>
          <a:solidFill>
            <a:srgbClr val="B0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B0302A"/>
                </a:solidFill>
              </a:rPr>
              <a:t>•  </a:t>
            </a:r>
            <a:r>
              <a:rPr sz="1900" b="1">
                <a:solidFill>
                  <a:srgbClr val="B0302A"/>
                </a:solidFill>
              </a:rPr>
              <a:t>SIGMORPHON 2021</a:t>
            </a:r>
            <a:r>
              <a:rPr sz="1900" b="0">
                <a:solidFill>
                  <a:srgbClr val="222222"/>
                </a:solidFill>
              </a:rPr>
              <a:t>, low-resource: Romanian (Latin / Romance) and Greek (Greek script / Hellenic).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</a:rPr>
              <a:t>      –  </a:t>
            </a:r>
            <a:r>
              <a:rPr sz="1700" b="0">
                <a:solidFill>
                  <a:srgbClr val="222222"/>
                </a:solidFill>
              </a:rPr>
              <a:t>800 / 100 / 100 words per language; IPA targets.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B0302A"/>
                </a:solidFill>
              </a:rPr>
              <a:t>•  </a:t>
            </a:r>
            <a:r>
              <a:rPr sz="1900" b="1">
                <a:solidFill>
                  <a:srgbClr val="B0302A"/>
                </a:solidFill>
              </a:rPr>
              <a:t>Metrics:</a:t>
            </a:r>
            <a:r>
              <a:rPr sz="1900" b="0">
                <a:solidFill>
                  <a:srgbClr val="222222"/>
                </a:solidFill>
              </a:rPr>
              <a:t> PER (character-level edit rate) and WER; </a:t>
            </a:r>
            <a:r>
              <a:rPr sz="1900" b="1">
                <a:solidFill>
                  <a:srgbClr val="B0302A"/>
                </a:solidFill>
              </a:rPr>
              <a:t>forgetting</a:t>
            </a:r>
            <a:r>
              <a:rPr sz="1900" b="0">
                <a:solidFill>
                  <a:srgbClr val="222222"/>
                </a:solidFill>
              </a:rPr>
              <a:t> on held-out English (eng-us) IPA.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B0302A"/>
                </a:solidFill>
              </a:rPr>
              <a:t>•  </a:t>
            </a:r>
            <a:r>
              <a:rPr sz="1900" b="1">
                <a:solidFill>
                  <a:srgbClr val="B0302A"/>
                </a:solidFill>
              </a:rPr>
              <a:t>Compute:</a:t>
            </a:r>
            <a:r>
              <a:rPr sz="1900" b="0">
                <a:solidFill>
                  <a:srgbClr val="222222"/>
                </a:solidFill>
              </a:rPr>
              <a:t> Kaggle dual T4 GPUs; HuggingFace transformers + peft.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B0302A"/>
                </a:solidFill>
              </a:rPr>
              <a:t>•  </a:t>
            </a:r>
            <a:r>
              <a:rPr sz="1900" b="0">
                <a:solidFill>
                  <a:srgbClr val="222222"/>
                </a:solidFill>
              </a:rPr>
              <a:t>Two fixes that mattered: the tag </a:t>
            </a:r>
            <a:r>
              <a:rPr sz="1900" b="1">
                <a:solidFill>
                  <a:srgbClr val="B0302A"/>
                </a:solidFill>
              </a:rPr>
              <a:t>&lt;ron&gt;</a:t>
            </a:r>
            <a:r>
              <a:rPr sz="1900" b="0">
                <a:solidFill>
                  <a:srgbClr val="222222"/>
                </a:solidFill>
              </a:rPr>
              <a:t> (not file code rum: 5.96 vs 24.76 dev PER), and </a:t>
            </a:r>
            <a:r>
              <a:rPr sz="1900" b="1">
                <a:solidFill>
                  <a:srgbClr val="B0302A"/>
                </a:solidFill>
              </a:rPr>
              <a:t>character-level</a:t>
            </a:r>
            <a:r>
              <a:rPr sz="1900" b="0">
                <a:solidFill>
                  <a:srgbClr val="222222"/>
                </a:solidFill>
              </a:rPr>
              <a:t> scoring so the un-delimited zero-shot output is comparable.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6E"/>
                </a:solidFill>
              </a:rPr>
              <a:t>Main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38100"/>
          </a:xfrm>
          <a:prstGeom prst="rect">
            <a:avLst/>
          </a:prstGeom>
          <a:solidFill>
            <a:srgbClr val="B0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1371600"/>
          <a:ext cx="101498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737360"/>
                <a:gridCol w="1737360"/>
                <a:gridCol w="1737360"/>
                <a:gridCol w="1737360"/>
              </a:tblGrid>
              <a:tr h="444137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Ro PER</a:t>
                      </a:r>
                    </a:p>
                  </a:txBody>
                  <a:tcPr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Ro WER</a:t>
                      </a:r>
                    </a:p>
                  </a:txBody>
                  <a:tcPr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El PER</a:t>
                      </a:r>
                    </a:p>
                  </a:txBody>
                  <a:tcPr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El WER</a:t>
                      </a:r>
                    </a:p>
                  </a:txBody>
                  <a:tcPr>
                    <a:solidFill>
                      <a:srgbClr val="1F3A6E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</a:rPr>
                        <a:t>Zero-shot</a:t>
                      </a:r>
                    </a:p>
                  </a:txBody>
                  <a:tcPr>
                    <a:solidFill>
                      <a:srgbClr val="EC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</a:rPr>
                        <a:t>4.48</a:t>
                      </a:r>
                    </a:p>
                  </a:txBody>
                  <a:tcPr>
                    <a:solidFill>
                      <a:srgbClr val="EC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</a:rPr>
                        <a:t>22.00</a:t>
                      </a:r>
                    </a:p>
                  </a:txBody>
                  <a:tcPr>
                    <a:solidFill>
                      <a:srgbClr val="EC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0302A"/>
                          </a:solidFill>
                        </a:rPr>
                        <a:t>1.56</a:t>
                      </a:r>
                    </a:p>
                  </a:txBody>
                  <a:tcPr>
                    <a:solidFill>
                      <a:srgbClr val="EC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0302A"/>
                          </a:solidFill>
                        </a:rPr>
                        <a:t>10.00</a:t>
                      </a:r>
                    </a:p>
                  </a:txBody>
                  <a:tcPr>
                    <a:solidFill>
                      <a:srgbClr val="ECEFF5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</a:rPr>
                        <a:t>Frozen 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</a:rPr>
                        <a:t>4.48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</a:rPr>
                        <a:t>23.00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</a:rPr>
                        <a:t>1.71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</a:rPr>
                        <a:t>LoRA (r=8)</a:t>
                      </a:r>
                    </a:p>
                  </a:txBody>
                  <a:tcPr>
                    <a:solidFill>
                      <a:srgbClr val="EC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</a:rPr>
                        <a:t>4.11 ± 0.20</a:t>
                      </a:r>
                    </a:p>
                  </a:txBody>
                  <a:tcPr>
                    <a:solidFill>
                      <a:srgbClr val="EC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</a:rPr>
                        <a:t>18.67 ± 2.36</a:t>
                      </a:r>
                    </a:p>
                  </a:txBody>
                  <a:tcPr>
                    <a:solidFill>
                      <a:srgbClr val="EC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</a:rPr>
                        <a:t>7.32</a:t>
                      </a:r>
                    </a:p>
                  </a:txBody>
                  <a:tcPr>
                    <a:solidFill>
                      <a:srgbClr val="EC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</a:rPr>
                        <a:t>35.00</a:t>
                      </a:r>
                    </a:p>
                  </a:txBody>
                  <a:tcPr>
                    <a:solidFill>
                      <a:srgbClr val="ECEFF5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</a:rPr>
                        <a:t>LoRA (r=16)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</a:rPr>
                        <a:t>3.36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</a:rPr>
                        <a:t>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</a:rPr>
                        <a:t>7.17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</a:rPr>
                        <a:t>35.00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</a:rPr>
                        <a:t>Full FT</a:t>
                      </a:r>
                    </a:p>
                  </a:txBody>
                  <a:tcPr>
                    <a:solidFill>
                      <a:srgbClr val="EC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0302A"/>
                          </a:solidFill>
                        </a:rPr>
                        <a:t>1.76</a:t>
                      </a:r>
                    </a:p>
                  </a:txBody>
                  <a:tcPr>
                    <a:solidFill>
                      <a:srgbClr val="EC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0302A"/>
                          </a:solidFill>
                        </a:rPr>
                        <a:t>10.00</a:t>
                      </a:r>
                    </a:p>
                  </a:txBody>
                  <a:tcPr>
                    <a:solidFill>
                      <a:srgbClr val="EC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</a:rPr>
                        <a:t>2.80</a:t>
                      </a:r>
                    </a:p>
                  </a:txBody>
                  <a:tcPr>
                    <a:solidFill>
                      <a:srgbClr val="EC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</a:rPr>
                        <a:t>16.00</a:t>
                      </a:r>
                    </a:p>
                  </a:txBody>
                  <a:tcPr>
                    <a:solidFill>
                      <a:srgbClr val="ECEFF5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pPr algn="l"/>
                      <a:r>
                        <a:rPr sz="1300" i="1">
                          <a:solidFill>
                            <a:srgbClr val="666666"/>
                          </a:solidFill>
                        </a:rPr>
                        <a:t>SIGMORPHON'21 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666666"/>
                          </a:solidFill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666666"/>
                          </a:solidFill>
                        </a:rP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666666"/>
                          </a:solidFill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666666"/>
                          </a:solidFill>
                        </a:rPr>
                        <a:t>21.00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800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B0302A"/>
                </a:solidFill>
              </a:rPr>
              <a:t>•  </a:t>
            </a:r>
            <a:r>
              <a:rPr sz="1600" b="1">
                <a:solidFill>
                  <a:srgbClr val="B0302A"/>
                </a:solidFill>
              </a:rPr>
              <a:t>Romanian:</a:t>
            </a:r>
            <a:r>
              <a:rPr sz="1600" b="0">
                <a:solidFill>
                  <a:srgbClr val="222222"/>
                </a:solidFill>
              </a:rPr>
              <a:t> adaptation helps — full FT best (PER 1.76, WER 10); LoRA r=16 (3.36) beats zero-shot (4.48) at </a:t>
            </a:r>
            <a:r>
              <a:rPr sz="1600" b="1">
                <a:solidFill>
                  <a:srgbClr val="B0302A"/>
                </a:solidFill>
              </a:rPr>
              <a:t>0.78%</a:t>
            </a:r>
            <a:r>
              <a:rPr sz="1600" b="0">
                <a:solidFill>
                  <a:srgbClr val="222222"/>
                </a:solidFill>
              </a:rPr>
              <a:t> of params.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B0302A"/>
                </a:solidFill>
              </a:rPr>
              <a:t>•  </a:t>
            </a:r>
            <a:r>
              <a:rPr sz="1600" b="1">
                <a:solidFill>
                  <a:srgbClr val="B0302A"/>
                </a:solidFill>
              </a:rPr>
              <a:t>Greek:</a:t>
            </a:r>
            <a:r>
              <a:rPr sz="1600" b="0">
                <a:solidFill>
                  <a:srgbClr val="222222"/>
                </a:solidFill>
              </a:rPr>
              <a:t> zero-shot already excellent (PER 1.56); no fine-tuning improves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6E"/>
                </a:solidFill>
              </a:rPr>
              <a:t>Accuracy vs. cost: the Pareto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38100"/>
          </a:xfrm>
          <a:prstGeom prst="rect">
            <a:avLst/>
          </a:prstGeom>
          <a:solidFill>
            <a:srgbClr val="B0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1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463040"/>
            <a:ext cx="9601200" cy="3686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9893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222222"/>
                </a:solidFill>
              </a:rPr>
              <a:t>Romanian: each extra parameter budget buys lower PER.    Greek: </a:t>
            </a:r>
            <a:r>
              <a:rPr sz="1500" b="1">
                <a:solidFill>
                  <a:srgbClr val="B0302A"/>
                </a:solidFill>
              </a:rPr>
              <a:t>zero-shot dominates</a:t>
            </a:r>
            <a:r>
              <a:rPr sz="1500" b="0">
                <a:solidFill>
                  <a:srgbClr val="222222"/>
                </a:solidFill>
              </a:rPr>
              <a:t> the frontier.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6E"/>
                </a:solidFill>
              </a:rPr>
              <a:t>Catastrophic forgetting on English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38100"/>
          </a:xfrm>
          <a:prstGeom prst="rect">
            <a:avLst/>
          </a:prstGeom>
          <a:solidFill>
            <a:srgbClr val="B0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2_forge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5939005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0" y="182880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B0302A"/>
                </a:solidFill>
              </a:rPr>
              <a:t>•  </a:t>
            </a:r>
            <a:r>
              <a:rPr sz="1800" b="0">
                <a:solidFill>
                  <a:srgbClr val="222222"/>
                </a:solidFill>
              </a:rPr>
              <a:t>Base model: PER </a:t>
            </a:r>
            <a:r>
              <a:rPr sz="1800" b="1">
                <a:solidFill>
                  <a:srgbClr val="B0302A"/>
                </a:solidFill>
              </a:rPr>
              <a:t>36.3</a:t>
            </a:r>
            <a:r>
              <a:rPr sz="1800" b="0">
                <a:solidFill>
                  <a:srgbClr val="222222"/>
                </a:solidFill>
              </a:rPr>
              <a:t>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B0302A"/>
                </a:solidFill>
              </a:rPr>
              <a:t>•  </a:t>
            </a:r>
            <a:r>
              <a:rPr sz="1800" b="1">
                <a:solidFill>
                  <a:srgbClr val="B0302A"/>
                </a:solidFill>
              </a:rPr>
              <a:t>Full fine-tuning forgets most</a:t>
            </a:r>
            <a:r>
              <a:rPr sz="1800" b="0">
                <a:solidFill>
                  <a:srgbClr val="222222"/>
                </a:solidFill>
              </a:rPr>
              <a:t> (Greek-adapted 43.3, +7).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B0302A"/>
                </a:solidFill>
              </a:rPr>
              <a:t>•  </a:t>
            </a:r>
            <a:r>
              <a:rPr sz="1800" b="1">
                <a:solidFill>
                  <a:srgbClr val="B0302A"/>
                </a:solidFill>
              </a:rPr>
              <a:t>LoRA / frozen-head stay near baseline.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B0302A"/>
                </a:solidFill>
              </a:rPr>
              <a:t>•  </a:t>
            </a:r>
            <a:r>
              <a:rPr sz="1800" b="0">
                <a:solidFill>
                  <a:srgbClr val="222222"/>
                </a:solidFill>
              </a:rPr>
              <a:t>Frozen base ⇒ multilingual ability preserved.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B0302A"/>
                </a:solidFill>
              </a:rPr>
              <a:t>•  </a:t>
            </a:r>
            <a:r>
              <a:rPr sz="1800" b="0">
                <a:solidFill>
                  <a:srgbClr val="222222"/>
                </a:solidFill>
              </a:rPr>
              <a:t>The cleanest argument for </a:t>
            </a:r>
            <a:r>
              <a:rPr sz="1800" b="1">
                <a:solidFill>
                  <a:srgbClr val="B0302A"/>
                </a:solidFill>
              </a:rPr>
              <a:t>PEFT</a:t>
            </a:r>
            <a:r>
              <a:rPr sz="1800" b="0">
                <a:solidFill>
                  <a:srgbClr val="222222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6E"/>
                </a:solidFill>
              </a:rPr>
              <a:t>Limitations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38100"/>
          </a:xfrm>
          <a:prstGeom prst="rect">
            <a:avLst/>
          </a:prstGeom>
          <a:solidFill>
            <a:srgbClr val="B0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B0302A"/>
                </a:solidFill>
              </a:rPr>
              <a:t>•  </a:t>
            </a:r>
            <a:r>
              <a:rPr sz="1900" b="1">
                <a:solidFill>
                  <a:srgbClr val="B0302A"/>
                </a:solidFill>
              </a:rPr>
              <a:t>Scope:</a:t>
            </a:r>
            <a:r>
              <a:rPr sz="1900" b="0">
                <a:solidFill>
                  <a:srgbClr val="222222"/>
                </a:solidFill>
              </a:rPr>
              <a:t> two languages, two LoRA ranks, mostly single-seed, one base model, isolated words, no adapter baseline.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B0302A"/>
                </a:solidFill>
              </a:rPr>
              <a:t>•  </a:t>
            </a:r>
            <a:r>
              <a:rPr sz="1900" b="1">
                <a:solidFill>
                  <a:srgbClr val="B0302A"/>
                </a:solidFill>
              </a:rPr>
              <a:t>Threat to validity:</a:t>
            </a:r>
            <a:r>
              <a:rPr sz="1900" b="0">
                <a:solidFill>
                  <a:srgbClr val="222222"/>
                </a:solidFill>
              </a:rPr>
              <a:t> Greek zero-shot likely inflated by WikiPron/SIGMORPHON pretraining overlap (within-split leakage is 0% exact).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B0302A"/>
                </a:solidFill>
              </a:rPr>
              <a:t>•  </a:t>
            </a:r>
            <a:r>
              <a:rPr sz="1900" b="1">
                <a:solidFill>
                  <a:srgbClr val="B0302A"/>
                </a:solidFill>
              </a:rPr>
              <a:t>Metric:</a:t>
            </a:r>
            <a:r>
              <a:rPr sz="1900" b="0">
                <a:solidFill>
                  <a:srgbClr val="222222"/>
                </a:solidFill>
              </a:rPr>
              <a:t> character-level PER is internally consistent but not the official phoneme-token PER.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B0302A"/>
                </a:solidFill>
              </a:rPr>
              <a:t>•  </a:t>
            </a:r>
            <a:r>
              <a:rPr sz="1900" b="1">
                <a:solidFill>
                  <a:srgbClr val="B0302A"/>
                </a:solidFill>
              </a:rPr>
              <a:t>Future:</a:t>
            </a:r>
            <a:r>
              <a:rPr sz="1900" b="0">
                <a:solidFill>
                  <a:srgbClr val="222222"/>
                </a:solidFill>
              </a:rPr>
              <a:t> adapters and wider rank sweep; more languages/scripts; self-training; sentence-level G2P; robustness.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6E"/>
                </a:solidFill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38100"/>
          </a:xfrm>
          <a:prstGeom prst="rect">
            <a:avLst/>
          </a:prstGeom>
          <a:solidFill>
            <a:srgbClr val="B0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B0302A"/>
                </a:solidFill>
              </a:rPr>
              <a:t>•  </a:t>
            </a:r>
            <a:r>
              <a:rPr sz="2000" b="0">
                <a:solidFill>
                  <a:srgbClr val="222222"/>
                </a:solidFill>
              </a:rPr>
              <a:t>LoRA </a:t>
            </a:r>
            <a:r>
              <a:rPr sz="2000" b="1">
                <a:solidFill>
                  <a:srgbClr val="B0302A"/>
                </a:solidFill>
              </a:rPr>
              <a:t>approaches full fine-tuning</a:t>
            </a:r>
            <a:r>
              <a:rPr sz="2000" b="0">
                <a:solidFill>
                  <a:srgbClr val="222222"/>
                </a:solidFill>
              </a:rPr>
              <a:t> where adaptation helps (Romanian PER 4.48 → 3.36) at </a:t>
            </a:r>
            <a:r>
              <a:rPr sz="2000" b="1">
                <a:solidFill>
                  <a:srgbClr val="B0302A"/>
                </a:solidFill>
              </a:rPr>
              <a:t>&lt;1%</a:t>
            </a:r>
            <a:r>
              <a:rPr sz="2000" b="0">
                <a:solidFill>
                  <a:srgbClr val="222222"/>
                </a:solidFill>
              </a:rPr>
              <a:t> of the parameters.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B0302A"/>
                </a:solidFill>
              </a:rPr>
              <a:t>•  </a:t>
            </a:r>
            <a:r>
              <a:rPr sz="2000" b="0">
                <a:solidFill>
                  <a:srgbClr val="222222"/>
                </a:solidFill>
              </a:rPr>
              <a:t>Per-language storage drops from K × ~300M to K × ~1–2M weights.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B0302A"/>
                </a:solidFill>
              </a:rPr>
              <a:t>•  </a:t>
            </a:r>
            <a:r>
              <a:rPr sz="2000" b="0">
                <a:solidFill>
                  <a:srgbClr val="222222"/>
                </a:solidFill>
              </a:rPr>
              <a:t>By freezing the backbone, LoRA </a:t>
            </a:r>
            <a:r>
              <a:rPr sz="2000" b="1">
                <a:solidFill>
                  <a:srgbClr val="B0302A"/>
                </a:solidFill>
              </a:rPr>
              <a:t>preserves the multilingual base</a:t>
            </a:r>
            <a:r>
              <a:rPr sz="2000" b="0">
                <a:solidFill>
                  <a:srgbClr val="222222"/>
                </a:solidFill>
              </a:rPr>
              <a:t> where full fine-tuning forgets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297680"/>
            <a:ext cx="9966960" cy="137160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Takeaway: PEFT is a practical default for per-language G2P deployment.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3A6E"/>
                </a:solidFill>
              </a:rPr>
              <a:t>Thank you — Questions?</a:t>
            </a:r>
          </a:p>
          <a:p>
            <a:pPr algn="ctr"/>
            <a:r>
              <a:rPr sz="1400">
                <a:solidFill>
                  <a:srgbClr val="222222"/>
                </a:solidFill>
              </a:rPr>
              <a:t>https://github.com/stoianraresstefan/G2P-Parameter-Efficient-Fine-Tuning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